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tema: os dois diagramas de interação da UML aplicados ao nosso sistema de compra de veículos.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importante para a banca: não são diagramas concorrentes, são duas vistas da mesma interação.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as três linhas de herança: o Cliente herda do Visitante e o Administrador herda do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Percorrer a numeração em voz alta: 1 consulta o estoque, 2 inicia a compra, e assim por diante até o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mdeck/logo-p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40080"/>
            <a:ext cx="2834640" cy="131673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228600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de Sequência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de Comunicação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777240" y="4069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B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Compra de Veículos — Prime Motors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77240" y="448056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Software  ·  Análise e Desenvolvimento de Sistemas (ADS1)  ·  3º Bimestre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77240" y="5074920"/>
            <a:ext cx="8595360" cy="868680"/>
          </a:xfrm>
          <a:prstGeom prst="roundRect">
            <a:avLst>
              <a:gd name="adj" fmla="val 8421"/>
            </a:avLst>
          </a:prstGeom>
          <a:solidFill>
            <a:srgbClr val="111E38"/>
          </a:solidFill>
          <a:ln w="12700">
            <a:solidFill>
              <a:srgbClr val="2234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5257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Tiago Marson Polo · Anthonny Gabriel Ribeiro · Vinicius Braga dos Reis · Joaby Dantas dos Santos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vamos apresentar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50976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da apresentação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E3EA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947672"/>
            <a:ext cx="420624" cy="420624"/>
          </a:xfrm>
          <a:prstGeom prst="ellipse">
            <a:avLst/>
          </a:prstGeom>
          <a:solidFill>
            <a:srgbClr val="1D6EF5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47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81328" y="180136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existem dois diagramas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81328" y="21671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mostram interação — mudam o foco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E3EA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3952" y="1947672"/>
            <a:ext cx="420624" cy="420624"/>
          </a:xfrm>
          <a:prstGeom prst="ellipse">
            <a:avLst/>
          </a:prstGeom>
          <a:solidFill>
            <a:srgbClr val="1D6EF5"/>
          </a:solidFill>
          <a:ln/>
        </p:spPr>
      </p:sp>
      <p:sp>
        <p:nvSpPr>
          <p:cNvPr id="11" name="Text 9"/>
          <p:cNvSpPr/>
          <p:nvPr/>
        </p:nvSpPr>
        <p:spPr>
          <a:xfrm>
            <a:off x="6473952" y="1947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59168" y="180136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Sequência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059168" y="21671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Atores, funcionalidades e a ordem no tempo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E3EA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3364992"/>
            <a:ext cx="420624" cy="420624"/>
          </a:xfrm>
          <a:prstGeom prst="ellipse">
            <a:avLst/>
          </a:prstGeom>
          <a:solidFill>
            <a:srgbClr val="1D6EF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3364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81328" y="321868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Comunicação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481328" y="35844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Objetos, mensagens numeradas e a topologia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01752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E3EA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73952" y="3364992"/>
            <a:ext cx="420624" cy="420624"/>
          </a:xfrm>
          <a:prstGeom prst="ellipse">
            <a:avLst/>
          </a:prstGeom>
          <a:solidFill>
            <a:srgbClr val="1D6EF5"/>
          </a:solidFill>
          <a:ln/>
        </p:spPr>
      </p:sp>
      <p:sp>
        <p:nvSpPr>
          <p:cNvPr id="21" name="Text 19"/>
          <p:cNvSpPr/>
          <p:nvPr/>
        </p:nvSpPr>
        <p:spPr>
          <a:xfrm>
            <a:off x="6473952" y="3364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59168" y="321868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fluxo de compra passo a passo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059168" y="35844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estoque até o comprovante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43484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E3EA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6112" y="4782312"/>
            <a:ext cx="420624" cy="420624"/>
          </a:xfrm>
          <a:prstGeom prst="ellipse">
            <a:avLst/>
          </a:prstGeom>
          <a:solidFill>
            <a:srgbClr val="1D6EF5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4782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81328" y="463600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Ligação com os requisitos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1481328" y="50017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mensagem aponta para um RF ou RN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443484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E3EA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73952" y="4782312"/>
            <a:ext cx="420624" cy="420624"/>
          </a:xfrm>
          <a:prstGeom prst="ellipse">
            <a:avLst/>
          </a:prstGeom>
          <a:solidFill>
            <a:srgbClr val="1D6EF5"/>
          </a:solidFill>
          <a:ln/>
        </p:spPr>
      </p:sp>
      <p:sp>
        <p:nvSpPr>
          <p:cNvPr id="31" name="Text 29"/>
          <p:cNvSpPr/>
          <p:nvPr/>
        </p:nvSpPr>
        <p:spPr>
          <a:xfrm>
            <a:off x="6473952" y="4782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59168" y="463600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 cada um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7059168" y="50017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final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diagramas, o mesmo comportamento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50976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UML chama os dois de diagramas de interação — a diferença é o que cada um destaca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F4F7FC"/>
          </a:solidFill>
          <a:ln w="12700">
            <a:solidFill>
              <a:srgbClr val="E3EA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011680"/>
            <a:ext cx="1737360" cy="384048"/>
          </a:xfrm>
          <a:prstGeom prst="roundRect">
            <a:avLst>
              <a:gd name="adj" fmla="val 16667"/>
            </a:avLst>
          </a:prstGeom>
          <a:solidFill>
            <a:srgbClr val="1D6EF5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116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 pelo TEMPO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306324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participante tem uma linha de vida vertical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mensagens descem de cima para baixo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ordem é visual: quem está em cima acontece antes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para explicar um cenário do início ao fim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91072" y="169164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F4F7FC"/>
          </a:solidFill>
          <a:ln w="12700">
            <a:solidFill>
              <a:srgbClr val="E3EA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11112" y="2011680"/>
            <a:ext cx="2148840" cy="384048"/>
          </a:xfrm>
          <a:prstGeom prst="roundRect">
            <a:avLst>
              <a:gd name="adj" fmla="val 16667"/>
            </a:avLst>
          </a:prstGeom>
          <a:solidFill>
            <a:srgbClr val="D9721E"/>
          </a:solidFill>
          <a:ln/>
        </p:spPr>
      </p:sp>
      <p:sp>
        <p:nvSpPr>
          <p:cNvPr id="11" name="Text 9"/>
          <p:cNvSpPr/>
          <p:nvPr/>
        </p:nvSpPr>
        <p:spPr>
          <a:xfrm>
            <a:off x="6611112" y="201168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11112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 pelo ESPAÇO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611112" y="306324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objetos ficam espalhados, ligados por linhas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ordem aparece na numeração: 1, 1.1, 1.1.1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quem conversa com quem — a topologia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para revelar acoplamento entre as classes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598932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representam a mesma interação: é possível converter um no outro sem perder informação.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Sequência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50976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 a comunicação entre os usuários e o sistema ao longo do tempo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943600" cy="960120"/>
          </a:xfrm>
          <a:prstGeom prst="roundRect">
            <a:avLst>
              <a:gd name="adj" fmla="val 9524"/>
            </a:avLst>
          </a:prstGeom>
          <a:solidFill>
            <a:srgbClr val="F4F7FC"/>
          </a:solidFill>
          <a:ln w="12700">
            <a:solidFill>
              <a:srgbClr val="E3EA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901952"/>
            <a:ext cx="457200" cy="457200"/>
          </a:xfrm>
          <a:prstGeom prst="ellipse">
            <a:avLst/>
          </a:prstGeom>
          <a:solidFill>
            <a:srgbClr val="1D6EF5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17739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057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Caixas no topo e no rodapé: os três atores e as funcionalidades do sistema.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779776"/>
            <a:ext cx="5943600" cy="960120"/>
          </a:xfrm>
          <a:prstGeom prst="roundRect">
            <a:avLst>
              <a:gd name="adj" fmla="val 9524"/>
            </a:avLst>
          </a:prstGeom>
          <a:solidFill>
            <a:srgbClr val="F4F7FC"/>
          </a:solidFill>
          <a:ln w="12700">
            <a:solidFill>
              <a:srgbClr val="E3EA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3035808"/>
            <a:ext cx="457200" cy="457200"/>
          </a:xfrm>
          <a:prstGeom prst="ellipse">
            <a:avLst/>
          </a:prstGeom>
          <a:solidFill>
            <a:srgbClr val="1D6EF5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54480" y="29077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de vida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54480" y="319125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linha tracejada vertical sob cada caixa; representa a existência do participante durante o processo.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913632"/>
            <a:ext cx="5943600" cy="960120"/>
          </a:xfrm>
          <a:prstGeom prst="roundRect">
            <a:avLst>
              <a:gd name="adj" fmla="val 9524"/>
            </a:avLst>
          </a:prstGeom>
          <a:solidFill>
            <a:srgbClr val="F4F7FC"/>
          </a:solidFill>
          <a:ln w="12700">
            <a:solidFill>
              <a:srgbClr val="E3EA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4169664"/>
            <a:ext cx="457200" cy="457200"/>
          </a:xfrm>
          <a:prstGeom prst="ellipse">
            <a:avLst/>
          </a:prstGeom>
          <a:solidFill>
            <a:srgbClr val="1D6EF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54480" y="40416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54480" y="43251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setas horizontais entre as linhas de vida; ligam quem pede a quem executa.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5047488"/>
            <a:ext cx="5943600" cy="960120"/>
          </a:xfrm>
          <a:prstGeom prst="roundRect">
            <a:avLst>
              <a:gd name="adj" fmla="val 9524"/>
            </a:avLst>
          </a:prstGeom>
          <a:solidFill>
            <a:srgbClr val="F4F7FC"/>
          </a:solidFill>
          <a:ln w="12700">
            <a:solidFill>
              <a:srgbClr val="E3EA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5303520"/>
            <a:ext cx="457200" cy="457200"/>
          </a:xfrm>
          <a:prstGeom prst="ellipse">
            <a:avLst/>
          </a:prstGeom>
          <a:solidFill>
            <a:srgbClr val="1D6EF5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54480" y="51755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54480" y="54589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cima para baixo. A primeira seta é a primeira coisa que acontece.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995160" y="1645920"/>
            <a:ext cx="4553712" cy="3291840"/>
          </a:xfrm>
          <a:prstGeom prst="roundRect">
            <a:avLst>
              <a:gd name="adj" fmla="val 3333"/>
            </a:avLst>
          </a:prstGeom>
          <a:solidFill>
            <a:srgbClr val="0A1224"/>
          </a:solidFill>
          <a:ln/>
        </p:spPr>
      </p:sp>
      <p:sp>
        <p:nvSpPr>
          <p:cNvPr id="25" name="Text 23"/>
          <p:cNvSpPr/>
          <p:nvPr/>
        </p:nvSpPr>
        <p:spPr>
          <a:xfrm>
            <a:off x="7269480" y="18745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Aplicado ao Prime Motors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69480" y="2267712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B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atores</a:t>
            </a:r>
            <a:endParaRPr lang="en-US" sz="12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250" dirty="0">
                <a:solidFill>
                  <a:srgbClr val="C3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Visitante · Cliente · Administrador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3B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funcionalidades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3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Autenticar, Recuperar Senha, Consultar Estoque, Detalhar Veículo, Realizar Compra, Escolher Recebimento, Agendar, Efetuar Pagamento, Emitir Comprovante, Gerenciar Estoque, Gerenciar Pedidos, Visualizar Relatórios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Sequência — Prime Motors</a:t>
            </a:r>
            <a:endParaRPr lang="en-US" sz="2800" dirty="0"/>
          </a:p>
        </p:txBody>
      </p:sp>
      <p:pic>
        <p:nvPicPr>
          <p:cNvPr id="3" name="Image 0" descr="/tmp/pmdeck/diagrama-sequencia-p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" y="1234440"/>
            <a:ext cx="11247120" cy="41813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690133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Atores à esquerda · funcionalidades à direita · setas “associação” ligam o ator ao caso de uso · setas tracejadas “herança” mostram que um ator acumula as funções do anterior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atores e o que cada um pode fazer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50976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herança evita repetir as mesmas associações em todos os atores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29000" cy="3429000"/>
          </a:xfrm>
          <a:prstGeom prst="roundRect">
            <a:avLst>
              <a:gd name="adj" fmla="val 2667"/>
            </a:avLst>
          </a:prstGeom>
          <a:solidFill>
            <a:srgbClr val="F4F7FC"/>
          </a:solidFill>
          <a:ln w="12700">
            <a:solidFill>
              <a:srgbClr val="E3EA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901952"/>
            <a:ext cx="2916936" cy="685800"/>
          </a:xfrm>
          <a:prstGeom prst="roundRect">
            <a:avLst>
              <a:gd name="adj" fmla="val 10667"/>
            </a:avLst>
          </a:prstGeom>
          <a:solidFill>
            <a:srgbClr val="5C6E8C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01952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Visitante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96112" y="2249424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público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60120" y="2724912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Autenticar no sistema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estoque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Detalhar veículo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645920"/>
            <a:ext cx="3429000" cy="3429000"/>
          </a:xfrm>
          <a:prstGeom prst="roundRect">
            <a:avLst>
              <a:gd name="adj" fmla="val 2667"/>
            </a:avLst>
          </a:prstGeom>
          <a:solidFill>
            <a:srgbClr val="F4F7FC"/>
          </a:solidFill>
          <a:ln w="12700">
            <a:solidFill>
              <a:srgbClr val="E3EA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9432" y="1901952"/>
            <a:ext cx="2916936" cy="685800"/>
          </a:xfrm>
          <a:prstGeom prst="roundRect">
            <a:avLst>
              <a:gd name="adj" fmla="val 10667"/>
            </a:avLst>
          </a:prstGeom>
          <a:solidFill>
            <a:srgbClr val="1D6EF5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1901952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99432" y="2249424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Herda do Visitante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63440" y="2724912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 senha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compra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recebimento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entrega/retirada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Efetuar pagamento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Emitir comprovante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645920"/>
            <a:ext cx="3429000" cy="3429000"/>
          </a:xfrm>
          <a:prstGeom prst="roundRect">
            <a:avLst>
              <a:gd name="adj" fmla="val 2667"/>
            </a:avLst>
          </a:prstGeom>
          <a:solidFill>
            <a:srgbClr val="F4F7FC"/>
          </a:solidFill>
          <a:ln w="12700">
            <a:solidFill>
              <a:srgbClr val="E3EA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02752" y="1901952"/>
            <a:ext cx="2916936" cy="685800"/>
          </a:xfrm>
          <a:prstGeom prst="roundRect">
            <a:avLst>
              <a:gd name="adj" fmla="val 10667"/>
            </a:avLst>
          </a:prstGeom>
          <a:solidFill>
            <a:srgbClr val="D9721E"/>
          </a:solidFill>
          <a:ln/>
        </p:spPr>
      </p:sp>
      <p:sp>
        <p:nvSpPr>
          <p:cNvPr id="16" name="Text 14"/>
          <p:cNvSpPr/>
          <p:nvPr/>
        </p:nvSpPr>
        <p:spPr>
          <a:xfrm>
            <a:off x="8302752" y="1901952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02752" y="2249424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Herda do Cliente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66760" y="2724912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Gerenciar estoque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Gerenciar pedidos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Visualizar relatórios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60807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Herança: o Administrador também compra e consulta — só desenhamos a seta tracejada em vez de repetir 9 associações.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Comunicação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50976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interação, organizada pela topologia: quem troca mensagem com quem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E3EA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379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97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14400" y="216712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Escritos como instância:Classe e sublinhados — compra:Compra é um objeto, não a classe.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E3EA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8379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97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Ligações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492240" y="216712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linhas entre os objetos. Existir linha significa que um conhece o outro.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06324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E3EA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095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97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numeradas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14400" y="353872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2, 3 são as chamadas principais. 2.1 é uma chamada feita dentro da 2.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06324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E3EA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2095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97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92240" y="353872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Setas tracejadas: a resposta que volta para quem chamou.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572000"/>
            <a:ext cx="10908792" cy="1417320"/>
          </a:xfrm>
          <a:prstGeom prst="roundRect">
            <a:avLst>
              <a:gd name="adj" fmla="val 7742"/>
            </a:avLst>
          </a:prstGeom>
          <a:solidFill>
            <a:srgbClr val="0A1224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75488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B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compra:Compra ficou no centro?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005840" y="5102352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ele é o objeto que orquestra o processo: recebe os pedidos do cliente e delega para entrega, agendamento, pagamento e comprovante. Ele corresponde ao módulo Compra descrito no item 8 do nosso documento de requisitos, que é o centro do modelo.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Comunicação — Fluxo de Compra</a:t>
            </a:r>
            <a:endParaRPr lang="en-US" sz="2600" dirty="0"/>
          </a:p>
        </p:txBody>
      </p:sp>
      <p:pic>
        <p:nvPicPr>
          <p:cNvPr id="3" name="Image 0" descr="/tmp/pmdeck/diagrama-comunicacao-pm-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1560" y="868680"/>
            <a:ext cx="8005832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objetos que participam da compra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50976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objeto corresponde a um dos módulos definidos no documento de requisitos do sistema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1170432"/>
          </a:xfrm>
          <a:prstGeom prst="roundRect">
            <a:avLst>
              <a:gd name="adj" fmla="val 7813"/>
            </a:avLst>
          </a:prstGeom>
          <a:solidFill>
            <a:srgbClr val="F4F7FC"/>
          </a:solidFill>
          <a:ln w="12700">
            <a:solidFill>
              <a:srgbClr val="E3EA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75688"/>
            <a:ext cx="402336" cy="402336"/>
          </a:xfrm>
          <a:prstGeom prst="ellipse">
            <a:avLst/>
          </a:prstGeom>
          <a:solidFill>
            <a:srgbClr val="1B8A5A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192938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cliente:Usuario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23500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compra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429000" cy="1170432"/>
          </a:xfrm>
          <a:prstGeom prst="roundRect">
            <a:avLst>
              <a:gd name="adj" fmla="val 7813"/>
            </a:avLst>
          </a:prstGeom>
          <a:solidFill>
            <a:srgbClr val="F4F7FC"/>
          </a:solidFill>
          <a:ln w="12700">
            <a:solidFill>
              <a:srgbClr val="E3EA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2075688"/>
            <a:ext cx="402336" cy="402336"/>
          </a:xfrm>
          <a:prstGeom prst="ellipse">
            <a:avLst/>
          </a:prstGeom>
          <a:solidFill>
            <a:srgbClr val="1D6EF5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92938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veiculo:Veiculo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20640" y="23500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estoque da loja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429000" cy="1170432"/>
          </a:xfrm>
          <a:prstGeom prst="roundRect">
            <a:avLst>
              <a:gd name="adj" fmla="val 7813"/>
            </a:avLst>
          </a:prstGeom>
          <a:solidFill>
            <a:srgbClr val="F4F7FC"/>
          </a:solidFill>
          <a:ln w="12700">
            <a:solidFill>
              <a:srgbClr val="E3EA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75320" y="2075688"/>
            <a:ext cx="402336" cy="402336"/>
          </a:xfrm>
          <a:prstGeom prst="ellipse">
            <a:avLst/>
          </a:prstGeom>
          <a:solidFill>
            <a:srgbClr val="D9721E"/>
          </a:solidFill>
          <a:ln/>
        </p:spPr>
      </p:sp>
      <p:sp>
        <p:nvSpPr>
          <p:cNvPr id="14" name="Text 12"/>
          <p:cNvSpPr/>
          <p:nvPr/>
        </p:nvSpPr>
        <p:spPr>
          <a:xfrm>
            <a:off x="8823960" y="192938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compra:Compra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823960" y="23500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 o pedido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108960"/>
            <a:ext cx="3429000" cy="1170432"/>
          </a:xfrm>
          <a:prstGeom prst="roundRect">
            <a:avLst>
              <a:gd name="adj" fmla="val 7813"/>
            </a:avLst>
          </a:prstGeom>
          <a:solidFill>
            <a:srgbClr val="F4F7FC"/>
          </a:solidFill>
          <a:ln w="12700">
            <a:solidFill>
              <a:srgbClr val="E3EA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3493008"/>
            <a:ext cx="402336" cy="402336"/>
          </a:xfrm>
          <a:prstGeom prst="ellipse">
            <a:avLst/>
          </a:prstGeom>
          <a:solidFill>
            <a:srgbClr val="1D6EF5"/>
          </a:solidFill>
          <a:ln/>
        </p:spPr>
      </p:sp>
      <p:sp>
        <p:nvSpPr>
          <p:cNvPr id="18" name="Text 16"/>
          <p:cNvSpPr/>
          <p:nvPr/>
        </p:nvSpPr>
        <p:spPr>
          <a:xfrm>
            <a:off x="1417320" y="334670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status:StatusCompra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376732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do pedido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3400" y="3108960"/>
            <a:ext cx="3429000" cy="1170432"/>
          </a:xfrm>
          <a:prstGeom prst="roundRect">
            <a:avLst>
              <a:gd name="adj" fmla="val 7813"/>
            </a:avLst>
          </a:prstGeom>
          <a:solidFill>
            <a:srgbClr val="F4F7FC"/>
          </a:solidFill>
          <a:ln w="12700">
            <a:solidFill>
              <a:srgbClr val="E3EA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3493008"/>
            <a:ext cx="402336" cy="402336"/>
          </a:xfrm>
          <a:prstGeom prst="ellipse">
            <a:avLst/>
          </a:prstGeom>
          <a:solidFill>
            <a:srgbClr val="0E7C8A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334670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entrega:Entrega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20640" y="376732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Endereço e frete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3108960"/>
            <a:ext cx="3429000" cy="1170432"/>
          </a:xfrm>
          <a:prstGeom prst="roundRect">
            <a:avLst>
              <a:gd name="adj" fmla="val 7813"/>
            </a:avLst>
          </a:prstGeom>
          <a:solidFill>
            <a:srgbClr val="F4F7FC"/>
          </a:solidFill>
          <a:ln w="12700">
            <a:solidFill>
              <a:srgbClr val="E3EA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75320" y="3493008"/>
            <a:ext cx="402336" cy="402336"/>
          </a:xfrm>
          <a:prstGeom prst="ellipse">
            <a:avLst/>
          </a:prstGeom>
          <a:solidFill>
            <a:srgbClr val="0E7C8A"/>
          </a:solidFill>
          <a:ln/>
        </p:spPr>
      </p:sp>
      <p:sp>
        <p:nvSpPr>
          <p:cNvPr id="26" name="Text 24"/>
          <p:cNvSpPr/>
          <p:nvPr/>
        </p:nvSpPr>
        <p:spPr>
          <a:xfrm>
            <a:off x="8823960" y="334670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agendamento:Agendamento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823960" y="376732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 horário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526280"/>
            <a:ext cx="3429000" cy="1170432"/>
          </a:xfrm>
          <a:prstGeom prst="roundRect">
            <a:avLst>
              <a:gd name="adj" fmla="val 7813"/>
            </a:avLst>
          </a:prstGeom>
          <a:solidFill>
            <a:srgbClr val="F4F7FC"/>
          </a:solidFill>
          <a:ln w="12700">
            <a:solidFill>
              <a:srgbClr val="E3EA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4910328"/>
            <a:ext cx="402336" cy="402336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30" name="Text 28"/>
          <p:cNvSpPr/>
          <p:nvPr/>
        </p:nvSpPr>
        <p:spPr>
          <a:xfrm>
            <a:off x="1417320" y="476402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pagamento:Pagamento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417320" y="518464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PIX, boleto ou cartão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343400" y="4526280"/>
            <a:ext cx="3429000" cy="1170432"/>
          </a:xfrm>
          <a:prstGeom prst="roundRect">
            <a:avLst>
              <a:gd name="adj" fmla="val 7813"/>
            </a:avLst>
          </a:prstGeom>
          <a:solidFill>
            <a:srgbClr val="F4F7FC"/>
          </a:solidFill>
          <a:ln w="12700">
            <a:solidFill>
              <a:srgbClr val="E3EA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0" y="4910328"/>
            <a:ext cx="402336" cy="402336"/>
          </a:xfrm>
          <a:prstGeom prst="ellipse">
            <a:avLst/>
          </a:prstGeom>
          <a:solidFill>
            <a:srgbClr val="4C5D73"/>
          </a:solidFill>
          <a:ln/>
        </p:spPr>
      </p:sp>
      <p:sp>
        <p:nvSpPr>
          <p:cNvPr id="34" name="Text 32"/>
          <p:cNvSpPr/>
          <p:nvPr/>
        </p:nvSpPr>
        <p:spPr>
          <a:xfrm>
            <a:off x="5120640" y="476402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comprovante:Comprovante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120640" y="518464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final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046720" y="4526280"/>
            <a:ext cx="3429000" cy="1170432"/>
          </a:xfrm>
          <a:prstGeom prst="roundRect">
            <a:avLst>
              <a:gd name="adj" fmla="val 7813"/>
            </a:avLst>
          </a:prstGeom>
          <a:solidFill>
            <a:srgbClr val="F4F7FC"/>
          </a:solidFill>
          <a:ln w="12700">
            <a:solidFill>
              <a:srgbClr val="E3EA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75320" y="4910328"/>
            <a:ext cx="402336" cy="402336"/>
          </a:xfrm>
          <a:prstGeom prst="ellipse">
            <a:avLst/>
          </a:prstGeom>
          <a:solidFill>
            <a:srgbClr val="B4232C"/>
          </a:solidFill>
          <a:ln/>
        </p:spPr>
      </p:sp>
      <p:sp>
        <p:nvSpPr>
          <p:cNvPr id="38" name="Text 36"/>
          <p:cNvSpPr/>
          <p:nvPr/>
        </p:nvSpPr>
        <p:spPr>
          <a:xfrm>
            <a:off x="8823960" y="476402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admin:Administrador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823960" y="518464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da loja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a numeração das mensagens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50976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que substitui a linha do tempo do diagrama de sequência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949440" cy="804672"/>
          </a:xfrm>
          <a:prstGeom prst="roundRect">
            <a:avLst>
              <a:gd name="adj" fmla="val 11364"/>
            </a:avLst>
          </a:prstGeom>
          <a:solidFill>
            <a:srgbClr val="F4F7FC"/>
          </a:solidFill>
          <a:ln w="12700">
            <a:solidFill>
              <a:srgbClr val="E3EA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929384"/>
            <a:ext cx="658368" cy="420624"/>
          </a:xfrm>
          <a:prstGeom prst="roundRect">
            <a:avLst>
              <a:gd name="adj" fmla="val 15217"/>
            </a:avLst>
          </a:prstGeom>
          <a:solidFill>
            <a:srgbClr val="1D6EF5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29384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184708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efetuarPagamento(forma)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215798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Chamada principal — o cliente aciona o sistema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188720" y="2697480"/>
            <a:ext cx="6400800" cy="804672"/>
          </a:xfrm>
          <a:prstGeom prst="roundRect">
            <a:avLst>
              <a:gd name="adj" fmla="val 11364"/>
            </a:avLst>
          </a:prstGeom>
          <a:solidFill>
            <a:srgbClr val="F4F7FC"/>
          </a:solidFill>
          <a:ln w="12700">
            <a:solidFill>
              <a:srgbClr val="E3EA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9888" y="2889504"/>
            <a:ext cx="658368" cy="420624"/>
          </a:xfrm>
          <a:prstGeom prst="roundRect">
            <a:avLst>
              <a:gd name="adj" fmla="val 15217"/>
            </a:avLst>
          </a:prstGeom>
          <a:solidFill>
            <a:srgbClr val="D9721E"/>
          </a:solidFill>
          <a:ln/>
        </p:spPr>
      </p:sp>
      <p:sp>
        <p:nvSpPr>
          <p:cNvPr id="11" name="Text 9"/>
          <p:cNvSpPr/>
          <p:nvPr/>
        </p:nvSpPr>
        <p:spPr>
          <a:xfrm>
            <a:off x="1389888" y="2889504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94560" y="280720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registrarPagamento(forma, valor)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94560" y="311810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Feita DENTRO da 5 — a compra chama o pagamento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188720" y="3657600"/>
            <a:ext cx="6400800" cy="804672"/>
          </a:xfrm>
          <a:prstGeom prst="roundRect">
            <a:avLst>
              <a:gd name="adj" fmla="val 11364"/>
            </a:avLst>
          </a:prstGeom>
          <a:solidFill>
            <a:srgbClr val="F4F7FC"/>
          </a:solidFill>
          <a:ln w="12700">
            <a:solidFill>
              <a:srgbClr val="E3EA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89888" y="3849624"/>
            <a:ext cx="658368" cy="420624"/>
          </a:xfrm>
          <a:prstGeom prst="roundRect">
            <a:avLst>
              <a:gd name="adj" fmla="val 15217"/>
            </a:avLst>
          </a:prstGeom>
          <a:solidFill>
            <a:srgbClr val="D9721E"/>
          </a:solidFill>
          <a:ln/>
        </p:spPr>
      </p:sp>
      <p:sp>
        <p:nvSpPr>
          <p:cNvPr id="16" name="Text 14"/>
          <p:cNvSpPr/>
          <p:nvPr/>
        </p:nvSpPr>
        <p:spPr>
          <a:xfrm>
            <a:off x="1389888" y="3849624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94560" y="376732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confirmarPagamento()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94560" y="407822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Ainda dentro da 5 — o pagamento responde para a compra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188720" y="4617720"/>
            <a:ext cx="6400800" cy="804672"/>
          </a:xfrm>
          <a:prstGeom prst="roundRect">
            <a:avLst>
              <a:gd name="adj" fmla="val 11364"/>
            </a:avLst>
          </a:prstGeom>
          <a:solidFill>
            <a:srgbClr val="F4F7FC"/>
          </a:solidFill>
          <a:ln w="12700">
            <a:solidFill>
              <a:srgbClr val="E3EA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89888" y="4809744"/>
            <a:ext cx="658368" cy="420624"/>
          </a:xfrm>
          <a:prstGeom prst="roundRect">
            <a:avLst>
              <a:gd name="adj" fmla="val 15217"/>
            </a:avLst>
          </a:prstGeom>
          <a:solidFill>
            <a:srgbClr val="D9721E"/>
          </a:solidFill>
          <a:ln/>
        </p:spPr>
      </p:sp>
      <p:sp>
        <p:nvSpPr>
          <p:cNvPr id="21" name="Text 19"/>
          <p:cNvSpPr/>
          <p:nvPr/>
        </p:nvSpPr>
        <p:spPr>
          <a:xfrm>
            <a:off x="1389888" y="4809744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194560" y="472744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alterarStatus(“Paga”)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194560" y="503834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 dentro da 5 — a compra atualiza o status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01000" y="1737360"/>
            <a:ext cx="3547872" cy="3840480"/>
          </a:xfrm>
          <a:prstGeom prst="roundRect">
            <a:avLst>
              <a:gd name="adj" fmla="val 3093"/>
            </a:avLst>
          </a:prstGeom>
          <a:solidFill>
            <a:srgbClr val="0A1224"/>
          </a:solidFill>
          <a:ln/>
        </p:spPr>
      </p:sp>
      <p:sp>
        <p:nvSpPr>
          <p:cNvPr id="25" name="Text 23"/>
          <p:cNvSpPr/>
          <p:nvPr/>
        </p:nvSpPr>
        <p:spPr>
          <a:xfrm>
            <a:off x="8275320" y="1965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275320" y="237744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ponto na numeração representa um nível de aninhamento.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3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mensagem 6.1.1 é uma resposta gerada dentro da 6.1, que por sua vez aconteceu dentro da 6.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3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Lendo os números em ordem crescente, você reconstrói exatamente a linha do tempo do diagrama de sequência.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fluxo completo da compra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50976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nove mensagens principais do diagrama de comunicação, em ordem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29000" cy="1225296"/>
          </a:xfrm>
          <a:prstGeom prst="roundRect">
            <a:avLst>
              <a:gd name="adj" fmla="val 7463"/>
            </a:avLst>
          </a:prstGeom>
          <a:solidFill>
            <a:srgbClr val="F4F7FC"/>
          </a:solidFill>
          <a:ln w="12700">
            <a:solidFill>
              <a:srgbClr val="E3EA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865376"/>
            <a:ext cx="457200" cy="457200"/>
          </a:xfrm>
          <a:prstGeom prst="ellipse">
            <a:avLst/>
          </a:prstGeom>
          <a:solidFill>
            <a:srgbClr val="1D6EF5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182880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o estoque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224942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pede a lista e recebe os veículos disponíveis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645920"/>
            <a:ext cx="3429000" cy="1225296"/>
          </a:xfrm>
          <a:prstGeom prst="roundRect">
            <a:avLst>
              <a:gd name="adj" fmla="val 7463"/>
            </a:avLst>
          </a:prstGeom>
          <a:solidFill>
            <a:srgbClr val="F4F7FC"/>
          </a:solidFill>
          <a:ln w="12700">
            <a:solidFill>
              <a:srgbClr val="E3EA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81144" y="1865376"/>
            <a:ext cx="457200" cy="457200"/>
          </a:xfrm>
          <a:prstGeom prst="ellipse">
            <a:avLst/>
          </a:prstGeom>
          <a:solidFill>
            <a:srgbClr val="1D6EF5"/>
          </a:solidFill>
          <a:ln/>
        </p:spPr>
      </p:sp>
      <p:sp>
        <p:nvSpPr>
          <p:cNvPr id="11" name="Text 9"/>
          <p:cNvSpPr/>
          <p:nvPr/>
        </p:nvSpPr>
        <p:spPr>
          <a:xfrm>
            <a:off x="4581144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66360" y="182880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a compra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9432" y="224942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Escolhido o carro, cria-se o objeto compra com status “Iniciada”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645920"/>
            <a:ext cx="3429000" cy="1225296"/>
          </a:xfrm>
          <a:prstGeom prst="roundRect">
            <a:avLst>
              <a:gd name="adj" fmla="val 7463"/>
            </a:avLst>
          </a:prstGeom>
          <a:solidFill>
            <a:srgbClr val="F4F7FC"/>
          </a:solidFill>
          <a:ln w="12700">
            <a:solidFill>
              <a:srgbClr val="E3EA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84464" y="1865376"/>
            <a:ext cx="457200" cy="457200"/>
          </a:xfrm>
          <a:prstGeom prst="ellipse">
            <a:avLst/>
          </a:prstGeom>
          <a:solidFill>
            <a:srgbClr val="1D6EF5"/>
          </a:solidFill>
          <a:ln/>
        </p:spPr>
      </p:sp>
      <p:sp>
        <p:nvSpPr>
          <p:cNvPr id="16" name="Text 14"/>
          <p:cNvSpPr/>
          <p:nvPr/>
        </p:nvSpPr>
        <p:spPr>
          <a:xfrm>
            <a:off x="8284464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69680" y="182880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o recebimento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02752" y="224942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Retirada na loja ou entrega; se for entrega, calcula-se o frete pelo CEP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108960"/>
            <a:ext cx="3429000" cy="1225296"/>
          </a:xfrm>
          <a:prstGeom prst="roundRect">
            <a:avLst>
              <a:gd name="adj" fmla="val 7463"/>
            </a:avLst>
          </a:prstGeom>
          <a:solidFill>
            <a:srgbClr val="F4F7FC"/>
          </a:solidFill>
          <a:ln w="12700">
            <a:solidFill>
              <a:srgbClr val="E3EA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7824" y="3328416"/>
            <a:ext cx="457200" cy="457200"/>
          </a:xfrm>
          <a:prstGeom prst="ellipse">
            <a:avLst/>
          </a:prstGeom>
          <a:solidFill>
            <a:srgbClr val="1D6EF5"/>
          </a:solidFill>
          <a:ln/>
        </p:spPr>
      </p:sp>
      <p:sp>
        <p:nvSpPr>
          <p:cNvPr id="21" name="Text 19"/>
          <p:cNvSpPr/>
          <p:nvPr/>
        </p:nvSpPr>
        <p:spPr>
          <a:xfrm>
            <a:off x="877824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63040" y="329184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96112" y="371246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data e horário do atendimento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43400" y="3108960"/>
            <a:ext cx="3429000" cy="1225296"/>
          </a:xfrm>
          <a:prstGeom prst="roundRect">
            <a:avLst>
              <a:gd name="adj" fmla="val 7463"/>
            </a:avLst>
          </a:prstGeom>
          <a:solidFill>
            <a:srgbClr val="F4F7FC"/>
          </a:solidFill>
          <a:ln w="12700">
            <a:solidFill>
              <a:srgbClr val="E3EA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81144" y="3328416"/>
            <a:ext cx="457200" cy="457200"/>
          </a:xfrm>
          <a:prstGeom prst="ellipse">
            <a:avLst/>
          </a:prstGeom>
          <a:solidFill>
            <a:srgbClr val="1D6EF5"/>
          </a:solidFill>
          <a:ln/>
        </p:spPr>
      </p:sp>
      <p:sp>
        <p:nvSpPr>
          <p:cNvPr id="26" name="Text 24"/>
          <p:cNvSpPr/>
          <p:nvPr/>
        </p:nvSpPr>
        <p:spPr>
          <a:xfrm>
            <a:off x="4581144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66360" y="329184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99432" y="371246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PIX, boleto ou cartão; o status passa para “Paga”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3108960"/>
            <a:ext cx="3429000" cy="1225296"/>
          </a:xfrm>
          <a:prstGeom prst="roundRect">
            <a:avLst>
              <a:gd name="adj" fmla="val 7463"/>
            </a:avLst>
          </a:prstGeom>
          <a:solidFill>
            <a:srgbClr val="F4F7FC"/>
          </a:solidFill>
          <a:ln w="12700">
            <a:solidFill>
              <a:srgbClr val="E3EA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84464" y="3328416"/>
            <a:ext cx="457200" cy="457200"/>
          </a:xfrm>
          <a:prstGeom prst="ellipse">
            <a:avLst/>
          </a:prstGeom>
          <a:solidFill>
            <a:srgbClr val="1D6EF5"/>
          </a:solidFill>
          <a:ln/>
        </p:spPr>
      </p:sp>
      <p:sp>
        <p:nvSpPr>
          <p:cNvPr id="31" name="Text 29"/>
          <p:cNvSpPr/>
          <p:nvPr/>
        </p:nvSpPr>
        <p:spPr>
          <a:xfrm>
            <a:off x="8284464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869680" y="329184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02752" y="371246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“Concluída”, comprovante gerado e veículo marcado como vendido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4572000"/>
            <a:ext cx="3429000" cy="1225296"/>
          </a:xfrm>
          <a:prstGeom prst="roundRect">
            <a:avLst>
              <a:gd name="adj" fmla="val 7463"/>
            </a:avLst>
          </a:prstGeom>
          <a:solidFill>
            <a:srgbClr val="F4F7FC"/>
          </a:solidFill>
          <a:ln w="12700">
            <a:solidFill>
              <a:srgbClr val="E3EA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7824" y="4791456"/>
            <a:ext cx="457200" cy="457200"/>
          </a:xfrm>
          <a:prstGeom prst="ellipse">
            <a:avLst/>
          </a:prstGeom>
          <a:solidFill>
            <a:srgbClr val="1D6EF5"/>
          </a:solidFill>
          <a:ln/>
        </p:spPr>
      </p:sp>
      <p:sp>
        <p:nvSpPr>
          <p:cNvPr id="36" name="Text 34"/>
          <p:cNvSpPr/>
          <p:nvPr/>
        </p:nvSpPr>
        <p:spPr>
          <a:xfrm>
            <a:off x="877824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463040" y="47548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Notificar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96112" y="517550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comprovante volta para o cliente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343400" y="4572000"/>
            <a:ext cx="3429000" cy="1225296"/>
          </a:xfrm>
          <a:prstGeom prst="roundRect">
            <a:avLst>
              <a:gd name="adj" fmla="val 7463"/>
            </a:avLst>
          </a:prstGeom>
          <a:solidFill>
            <a:srgbClr val="F4F7FC"/>
          </a:solidFill>
          <a:ln w="12700">
            <a:solidFill>
              <a:srgbClr val="E3EAF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81144" y="4791456"/>
            <a:ext cx="457200" cy="457200"/>
          </a:xfrm>
          <a:prstGeom prst="ellipse">
            <a:avLst/>
          </a:prstGeom>
          <a:solidFill>
            <a:srgbClr val="B4232C"/>
          </a:solidFill>
          <a:ln/>
        </p:spPr>
      </p:sp>
      <p:sp>
        <p:nvSpPr>
          <p:cNvPr id="41" name="Text 39"/>
          <p:cNvSpPr/>
          <p:nvPr/>
        </p:nvSpPr>
        <p:spPr>
          <a:xfrm>
            <a:off x="4581144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166360" y="47548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Gerenciar estoque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599432" y="517550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administrador cadastra, edita e remove veículos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046720" y="4572000"/>
            <a:ext cx="3429000" cy="1225296"/>
          </a:xfrm>
          <a:prstGeom prst="roundRect">
            <a:avLst>
              <a:gd name="adj" fmla="val 7463"/>
            </a:avLst>
          </a:prstGeom>
          <a:solidFill>
            <a:srgbClr val="F4F7FC"/>
          </a:solidFill>
          <a:ln w="12700">
            <a:solidFill>
              <a:srgbClr val="E3EAF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84464" y="4791456"/>
            <a:ext cx="457200" cy="457200"/>
          </a:xfrm>
          <a:prstGeom prst="ellipse">
            <a:avLst/>
          </a:prstGeom>
          <a:solidFill>
            <a:srgbClr val="B4232C"/>
          </a:solidFill>
          <a:ln/>
        </p:spPr>
      </p:sp>
      <p:sp>
        <p:nvSpPr>
          <p:cNvPr id="46" name="Text 44"/>
          <p:cNvSpPr/>
          <p:nvPr/>
        </p:nvSpPr>
        <p:spPr>
          <a:xfrm>
            <a:off x="8284464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869680" y="47548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pedidos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302752" y="517550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administrador consulta os pedidos e recebe o relatório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requisito ao diagrama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50976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mensagem representa um requisito levantado e garante uma regra de negócio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0879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834640"/>
                <a:gridCol w="2286000"/>
                <a:gridCol w="514807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Nº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2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Mensagem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2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2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Regra de negócio garantida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22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6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consultarEstoque()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D97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6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Listar todos os veículos disponíveis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6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iniciarCompra()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D97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RF05 · RN01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6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usuário cadastrado conclui compra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6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calcularFrete()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D97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RF08 · RN12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6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frete depende do endereço informado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6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agendar()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D97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RF09 · RN06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6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agendamento pertence a uma compra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6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registrarPagamento()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D97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RF10 a RF14 · RN07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6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compra tem um único pagamento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6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gerarComprovante()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D97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RF15 · RN08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6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Comprovante só após a confirmação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6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alterarStatus(“Vendido”)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D97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RF18 · RN03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6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Veículo vendido sai do estoque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6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acompanharPedidos()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D97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6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gerencia pedidos e pagamentos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mensagem foi inventada: cada uma nasceu de um requisito do documento de levantamento.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 cada um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50976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prático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0879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61104"/>
                <a:gridCol w="4270248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SEQUÊNCIA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COMUNICAÇÃO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21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2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ordem no tempo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fala com quem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2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Leitura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cima para baixo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 numeração das mensagens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2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Mostra bem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cenário completo de um caso de uso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acoplamento entre os objetos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2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Fica ruim quando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Há muitos participantes — fica largo demais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Há muitas mensagens — vira uma teia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2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Usamos para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Apresentar os atores e as funcionalidades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Detalhar o fluxo de compra do veículo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mdeck/logo-p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548640"/>
            <a:ext cx="265176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77240" y="2331720"/>
            <a:ext cx="10607040" cy="1005840"/>
          </a:xfrm>
          <a:prstGeom prst="roundRect">
            <a:avLst>
              <a:gd name="adj" fmla="val 9091"/>
            </a:avLst>
          </a:prstGeom>
          <a:solidFill>
            <a:srgbClr val="111E38"/>
          </a:solidFill>
          <a:ln w="12700">
            <a:solidFill>
              <a:srgbClr val="22345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51560" y="2615184"/>
            <a:ext cx="438912" cy="438912"/>
          </a:xfrm>
          <a:prstGeom prst="ellipse">
            <a:avLst/>
          </a:prstGeom>
          <a:solidFill>
            <a:srgbClr val="1D6EF5"/>
          </a:solidFill>
          <a:ln/>
        </p:spPr>
      </p:sp>
      <p:sp>
        <p:nvSpPr>
          <p:cNvPr id="6" name="Text 3"/>
          <p:cNvSpPr/>
          <p:nvPr/>
        </p:nvSpPr>
        <p:spPr>
          <a:xfrm>
            <a:off x="1051560" y="26151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691640" y="2478024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vistas da mesma interação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91640" y="283464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mostra a ordem; comunicação mostra a estrutura.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7240" y="3520440"/>
            <a:ext cx="10607040" cy="1005840"/>
          </a:xfrm>
          <a:prstGeom prst="roundRect">
            <a:avLst>
              <a:gd name="adj" fmla="val 9091"/>
            </a:avLst>
          </a:prstGeom>
          <a:solidFill>
            <a:srgbClr val="111E38"/>
          </a:solidFill>
          <a:ln w="12700">
            <a:solidFill>
              <a:srgbClr val="2234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51560" y="3803904"/>
            <a:ext cx="438912" cy="438912"/>
          </a:xfrm>
          <a:prstGeom prst="ellipse">
            <a:avLst/>
          </a:prstGeom>
          <a:solidFill>
            <a:srgbClr val="1D6EF5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38039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691640" y="3666744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Ligados aos requisitos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691640" y="402336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mensagem aponta para um RF ou uma regra de negócio do documento.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77240" y="4709160"/>
            <a:ext cx="10607040" cy="1005840"/>
          </a:xfrm>
          <a:prstGeom prst="roundRect">
            <a:avLst>
              <a:gd name="adj" fmla="val 9091"/>
            </a:avLst>
          </a:prstGeom>
          <a:solidFill>
            <a:srgbClr val="111E38"/>
          </a:solidFill>
          <a:ln w="12700">
            <a:solidFill>
              <a:srgbClr val="22345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51560" y="4992624"/>
            <a:ext cx="438912" cy="438912"/>
          </a:xfrm>
          <a:prstGeom prst="ellipse">
            <a:avLst/>
          </a:prstGeom>
          <a:solidFill>
            <a:srgbClr val="1D6EF5"/>
          </a:solidFill>
          <a:ln/>
        </p:spPr>
      </p:sp>
      <p:sp>
        <p:nvSpPr>
          <p:cNvPr id="16" name="Text 13"/>
          <p:cNvSpPr/>
          <p:nvPr/>
        </p:nvSpPr>
        <p:spPr>
          <a:xfrm>
            <a:off x="1051560" y="49926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691640" y="4855464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Refletem a modelagem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691640" y="521208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objetos são as entidades do documento de requisitos, prontas para virar as tabelas do banco.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77240" y="59436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Diagramas de Sequência e de Comunicação — Prime Motors</dc:title>
  <dc:subject>PptxGenJS Presentation</dc:subject>
  <dc:creator>Grupo ADS1 — Prime Motors</dc:creator>
  <cp:lastModifiedBy>Grupo ADS1 — Prime Motors</cp:lastModifiedBy>
  <cp:revision>1</cp:revision>
  <dcterms:created xsi:type="dcterms:W3CDTF">2026-08-24T23:32:05Z</dcterms:created>
  <dcterms:modified xsi:type="dcterms:W3CDTF">2026-08-24T23:32:05Z</dcterms:modified>
</cp:coreProperties>
</file>